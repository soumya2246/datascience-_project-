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414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3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88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20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81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96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50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3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70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09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815B8A5-E8D3-40A7-8D89-1217931AD9D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30B405B-B421-4B04-9564-620954E4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1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D372-2A2E-3FFD-62E1-66938C99E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59749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Email Spam Classification using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4D74B-72A8-DED6-CFD7-E20FDC0AA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solidFill>
                  <a:schemeClr val="bg1"/>
                </a:solidFill>
                <a:latin typeface="Arial Black" panose="020B0A04020102020204" pitchFamily="34" charset="0"/>
              </a:rPr>
              <a:t>By Soumya Tarate</a:t>
            </a:r>
          </a:p>
        </p:txBody>
      </p:sp>
    </p:spTree>
    <p:extLst>
      <p:ext uri="{BB962C8B-B14F-4D97-AF65-F5344CB8AC3E}">
        <p14:creationId xmlns:p14="http://schemas.microsoft.com/office/powerpoint/2010/main" val="301021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0B34A-61E8-F1C1-526F-3B57CAA0F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992"/>
            <a:ext cx="10515600" cy="509797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PROBLEM STATEMENT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 increasing number of spam emails creates security risks and wastes user time. Accurately classifying emails as spam or ham using Natural Language Processing and Machine Learning techniques.</a:t>
            </a:r>
            <a:endParaRPr lang="en-IN" sz="2000" dirty="0"/>
          </a:p>
          <a:p>
            <a:endParaRPr lang="en-IN" dirty="0"/>
          </a:p>
          <a:p>
            <a:r>
              <a:rPr lang="en-IN" dirty="0"/>
              <a:t>OBJECTIVES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 classify emails as Spam or Ham (Not Spam)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 apply Natural Language Processing (NLP) techniques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 train a Machine Learning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To evaluate the model using accuracy and performance metrics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dirty="0"/>
              <a:t>DATASET RESOURCE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Kaggle Dataset</a:t>
            </a:r>
          </a:p>
        </p:txBody>
      </p:sp>
    </p:spTree>
    <p:extLst>
      <p:ext uri="{BB962C8B-B14F-4D97-AF65-F5344CB8AC3E}">
        <p14:creationId xmlns:p14="http://schemas.microsoft.com/office/powerpoint/2010/main" val="76585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DCFF-73C2-D75C-1A75-FAB78E8F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203" y="59267"/>
            <a:ext cx="8373364" cy="99059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b="1" dirty="0"/>
              <a:t>Dataset Structure &amp; Initial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626F-5472-A4BF-D97E-DE3EFB0A4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44600"/>
            <a:ext cx="10782300" cy="49323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Label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Countplot</a:t>
            </a:r>
            <a:r>
              <a:rPr lang="en-US" dirty="0"/>
              <a:t> analysis reveals the balance between spam and ham categories, informing model training strategies.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Feature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Text preprocessing including </a:t>
            </a:r>
            <a:r>
              <a:rPr lang="en-US" dirty="0" err="1"/>
              <a:t>tokenisation</a:t>
            </a:r>
            <a:r>
              <a:rPr lang="en-US" dirty="0"/>
              <a:t>, </a:t>
            </a:r>
            <a:r>
              <a:rPr lang="en-US" dirty="0" err="1"/>
              <a:t>stopword</a:t>
            </a:r>
            <a:r>
              <a:rPr lang="en-US" dirty="0"/>
              <a:t> removal, and </a:t>
            </a:r>
            <a:r>
              <a:rPr lang="en-US" dirty="0" err="1"/>
              <a:t>vectorisation</a:t>
            </a:r>
            <a:r>
              <a:rPr lang="en-US" dirty="0"/>
              <a:t> to transform raw text into numerical features.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Dataset source</a:t>
            </a:r>
            <a:r>
              <a:rPr lang="en-US" dirty="0"/>
              <a:t>: </a:t>
            </a:r>
            <a:r>
              <a:rPr lang="en-US" b="1" dirty="0"/>
              <a:t>Kaggle Spam vs Ham Dataset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Contains thousands of labeled email messages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Two classes:</a:t>
            </a:r>
          </a:p>
          <a:p>
            <a:pPr lvl="1"/>
            <a:r>
              <a:rPr lang="en-US" b="1" dirty="0"/>
              <a:t>Spam</a:t>
            </a:r>
            <a:endParaRPr lang="en-US" dirty="0"/>
          </a:p>
          <a:p>
            <a:pPr lvl="1"/>
            <a:r>
              <a:rPr lang="en-US" b="1" dirty="0"/>
              <a:t>Ham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record contains email text and its category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dataset is suitable for text classification tasks.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38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1D99-921E-0E8F-176A-204EF802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617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Methodology: Model Development Process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FDC5-1FD5-D720-0130-1AB629A79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1136"/>
            <a:ext cx="10515600" cy="394582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E474D2B4-C4AB-56E7-5AFE-41E652A15933}"/>
              </a:ext>
            </a:extLst>
          </p:cNvPr>
          <p:cNvSpPr/>
          <p:nvPr/>
        </p:nvSpPr>
        <p:spPr>
          <a:xfrm rot="2692487">
            <a:off x="1182276" y="2785170"/>
            <a:ext cx="1722576" cy="1686638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FBA428A5-6662-C735-E53C-2231064DF950}"/>
              </a:ext>
            </a:extLst>
          </p:cNvPr>
          <p:cNvSpPr/>
          <p:nvPr/>
        </p:nvSpPr>
        <p:spPr>
          <a:xfrm rot="2700757">
            <a:off x="2992440" y="2828604"/>
            <a:ext cx="1717275" cy="1682858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E908F042-B7FF-D6CE-8A9B-8FFF1A8D4679}"/>
              </a:ext>
            </a:extLst>
          </p:cNvPr>
          <p:cNvSpPr/>
          <p:nvPr/>
        </p:nvSpPr>
        <p:spPr>
          <a:xfrm rot="2818460">
            <a:off x="4876232" y="2720028"/>
            <a:ext cx="1759724" cy="1770589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81FD9FF3-028D-0866-C960-9D055F0C9B02}"/>
              </a:ext>
            </a:extLst>
          </p:cNvPr>
          <p:cNvSpPr/>
          <p:nvPr/>
        </p:nvSpPr>
        <p:spPr>
          <a:xfrm rot="2659445">
            <a:off x="6858224" y="2879903"/>
            <a:ext cx="1631226" cy="1599884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5B71FB37-8B01-38C7-0A05-7C867BEE2733}"/>
              </a:ext>
            </a:extLst>
          </p:cNvPr>
          <p:cNvSpPr/>
          <p:nvPr/>
        </p:nvSpPr>
        <p:spPr>
          <a:xfrm rot="2765739">
            <a:off x="8656131" y="2837872"/>
            <a:ext cx="1675018" cy="1664322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213DC2-51E7-6976-BB98-15E9FAAFF71A}"/>
              </a:ext>
            </a:extLst>
          </p:cNvPr>
          <p:cNvSpPr txBox="1"/>
          <p:nvPr/>
        </p:nvSpPr>
        <p:spPr>
          <a:xfrm>
            <a:off x="1468896" y="3257339"/>
            <a:ext cx="1149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Data Loading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65CB69-7133-438E-C091-03BDA655BF06}"/>
              </a:ext>
            </a:extLst>
          </p:cNvPr>
          <p:cNvSpPr txBox="1"/>
          <p:nvPr/>
        </p:nvSpPr>
        <p:spPr>
          <a:xfrm>
            <a:off x="3164403" y="3429000"/>
            <a:ext cx="162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BD781-D49B-35C0-F816-B7DDAFB07983}"/>
              </a:ext>
            </a:extLst>
          </p:cNvPr>
          <p:cNvSpPr txBox="1"/>
          <p:nvPr/>
        </p:nvSpPr>
        <p:spPr>
          <a:xfrm>
            <a:off x="5175310" y="3318894"/>
            <a:ext cx="1255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Feature Extraction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E099C-4254-BD6B-A4DA-5907EAB1BEEA}"/>
              </a:ext>
            </a:extLst>
          </p:cNvPr>
          <p:cNvSpPr txBox="1"/>
          <p:nvPr/>
        </p:nvSpPr>
        <p:spPr>
          <a:xfrm>
            <a:off x="7177762" y="3318894"/>
            <a:ext cx="1069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Model Training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DE23E1-F4F3-2120-ADAD-4FCF24C6A67C}"/>
              </a:ext>
            </a:extLst>
          </p:cNvPr>
          <p:cNvSpPr txBox="1"/>
          <p:nvPr/>
        </p:nvSpPr>
        <p:spPr>
          <a:xfrm>
            <a:off x="8893958" y="3356679"/>
            <a:ext cx="152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45641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49A7-6F9A-8ED9-D8B3-C4743CDE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33"/>
            <a:ext cx="105156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NLP Preprocessing Pipeline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A89F4-0CB9-C1C8-61DB-834E9BC5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9072"/>
            <a:ext cx="10515600" cy="4457891"/>
          </a:xfrm>
        </p:spPr>
        <p:txBody>
          <a:bodyPr>
            <a:normAutofit/>
          </a:bodyPr>
          <a:lstStyle/>
          <a:p>
            <a:r>
              <a:rPr lang="en-US" b="1" dirty="0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Lowercasing</a:t>
            </a:r>
            <a:r>
              <a:rPr lang="en-US" b="1" dirty="0">
                <a:latin typeface="Aptos" panose="020B0004020202020204" pitchFamily="34" charset="0"/>
              </a:rPr>
              <a:t> : </a:t>
            </a:r>
            <a:r>
              <a:rPr lang="en-US" dirty="0">
                <a:latin typeface="Aptos" panose="020B0004020202020204" pitchFamily="34" charset="0"/>
                <a:ea typeface="Geist" pitchFamily="34" charset="-122"/>
                <a:cs typeface="Geist" pitchFamily="34" charset="-120"/>
              </a:rPr>
              <a:t>Convert all text to lowercase to ensure consistent representation regardless of original capitalization.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Punctuation Removal</a:t>
            </a:r>
            <a:r>
              <a:rPr lang="en-US" b="1" dirty="0">
                <a:latin typeface="Aptos" panose="020B0004020202020204" pitchFamily="34" charset="0"/>
              </a:rPr>
              <a:t> :</a:t>
            </a:r>
            <a:r>
              <a:rPr lang="en-US" dirty="0">
                <a:latin typeface="Aptos" panose="020B0004020202020204" pitchFamily="34" charset="0"/>
                <a:ea typeface="Geist" pitchFamily="34" charset="-122"/>
                <a:cs typeface="Geist" pitchFamily="34" charset="-120"/>
              </a:rPr>
              <a:t>Remove punctuation marks, special characters, and symbols that don't contribute to spam detection.</a:t>
            </a:r>
          </a:p>
          <a:p>
            <a:r>
              <a:rPr lang="en-US" b="1" dirty="0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Tokenization</a:t>
            </a:r>
            <a:r>
              <a:rPr lang="en-US" b="1" dirty="0">
                <a:latin typeface="Aptos" panose="020B0004020202020204" pitchFamily="34" charset="0"/>
              </a:rPr>
              <a:t> : </a:t>
            </a:r>
            <a:r>
              <a:rPr lang="en-US" dirty="0">
                <a:latin typeface="Aptos" panose="020B0004020202020204" pitchFamily="34" charset="0"/>
                <a:ea typeface="Geist" pitchFamily="34" charset="-122"/>
                <a:cs typeface="Geist" pitchFamily="34" charset="-120"/>
              </a:rPr>
              <a:t>Break text into individual words or tokens for analysis and feature extraction.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 err="1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Stopword</a:t>
            </a:r>
            <a:r>
              <a:rPr lang="en-US" b="1" dirty="0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 Removal : </a:t>
            </a:r>
            <a:r>
              <a:rPr lang="en-US" dirty="0">
                <a:latin typeface="Aptos" panose="020B0004020202020204" pitchFamily="34" charset="0"/>
                <a:ea typeface="Geist" pitchFamily="34" charset="-122"/>
                <a:cs typeface="Geist" pitchFamily="34" charset="-120"/>
              </a:rPr>
              <a:t>Eliminate common words (the, is, at, which, etc.) that add noise without meaningful signal.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Text Vectorization</a:t>
            </a:r>
            <a:r>
              <a:rPr lang="en-US" b="1" dirty="0">
                <a:latin typeface="Aptos" panose="020B0004020202020204" pitchFamily="34" charset="0"/>
              </a:rPr>
              <a:t> : </a:t>
            </a:r>
            <a:r>
              <a:rPr lang="en-US" dirty="0">
                <a:latin typeface="Aptos" panose="020B0004020202020204" pitchFamily="34" charset="0"/>
                <a:ea typeface="Geist" pitchFamily="34" charset="-122"/>
                <a:cs typeface="Geist" pitchFamily="34" charset="-120"/>
              </a:rPr>
              <a:t>Convert cleaned text into numerical format using Bag of Words or TF-IDF for machine learning.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83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C11E-6E65-BD14-EC2C-08EFA24A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35000"/>
            <a:ext cx="7729728" cy="1092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Model Performance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198-F4AF-D17F-74AE-BEA5E8399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412"/>
            <a:ext cx="10515600" cy="4256531"/>
          </a:xfrm>
        </p:spPr>
        <p:txBody>
          <a:bodyPr>
            <a:normAutofit/>
          </a:bodyPr>
          <a:lstStyle/>
          <a:p>
            <a:r>
              <a:rPr lang="en-US" b="1" dirty="0"/>
              <a:t>Accuracy Score</a:t>
            </a:r>
          </a:p>
          <a:p>
            <a:r>
              <a:rPr lang="en-US" dirty="0"/>
              <a:t>Overall correctness of classifications, calculated as (True Positives + True Negatives) / Total Predictions.</a:t>
            </a:r>
          </a:p>
          <a:p>
            <a:endParaRPr lang="en-US" dirty="0"/>
          </a:p>
          <a:p>
            <a:r>
              <a:rPr lang="en-US" b="1" dirty="0"/>
              <a:t>Confusion Matrix</a:t>
            </a:r>
          </a:p>
          <a:p>
            <a:r>
              <a:rPr lang="en-US" dirty="0"/>
              <a:t>Visual representation of correct and incorrect predictions, showing true positives, false positives, true negatives, and false negatives.</a:t>
            </a:r>
          </a:p>
          <a:p>
            <a:endParaRPr lang="en-US" dirty="0"/>
          </a:p>
          <a:p>
            <a:r>
              <a:rPr lang="en-US" b="1" dirty="0"/>
              <a:t>Classification Report</a:t>
            </a:r>
          </a:p>
          <a:p>
            <a:r>
              <a:rPr lang="en-US" dirty="0"/>
              <a:t>Detailed breakdown including precision, recall, and F1-score for each class (spam and ham).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24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0520-B20A-571D-61D2-E59FFB8D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86385"/>
            <a:ext cx="10515600" cy="1152144"/>
          </a:xfrm>
        </p:spPr>
        <p:txBody>
          <a:bodyPr>
            <a:normAutofit/>
          </a:bodyPr>
          <a:lstStyle/>
          <a:p>
            <a:r>
              <a:rPr lang="en-IN" b="1" dirty="0"/>
              <a:t>Key Evaluation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92B4-3E9A-E36D-BB60-A487343A2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Precision</a:t>
            </a:r>
          </a:p>
          <a:p>
            <a:r>
              <a:rPr lang="en-US" dirty="0"/>
              <a:t>Proportion of correctly identified spam emails among all emails classified as spam. High precision means fewer false alarms.</a:t>
            </a:r>
          </a:p>
          <a:p>
            <a:pPr marL="0" indent="0">
              <a:buNone/>
            </a:pPr>
            <a:r>
              <a:rPr lang="en-US" b="1" dirty="0"/>
              <a:t>2. Recall</a:t>
            </a:r>
          </a:p>
          <a:p>
            <a:r>
              <a:rPr lang="en-US" dirty="0"/>
              <a:t>Proportion of actual spam emails correctly identified. High recall means fewer spam messages missed.</a:t>
            </a:r>
          </a:p>
          <a:p>
            <a:pPr marL="0" indent="0">
              <a:buNone/>
            </a:pPr>
            <a:r>
              <a:rPr lang="en-US" b="1" dirty="0"/>
              <a:t>3. F1-Score</a:t>
            </a:r>
          </a:p>
          <a:p>
            <a:r>
              <a:rPr lang="en-US" dirty="0"/>
              <a:t>Harmonic mean of precision and recall, providing a balanced measure of model performance across both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30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7A46-C7DA-36AA-6B91-A63A8413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74" y="1193521"/>
            <a:ext cx="5935133" cy="4206875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Aptos" panose="020B0004020202020204" pitchFamily="34" charset="0"/>
              </a:rPr>
              <a:t>OUTPUT 1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This </a:t>
            </a:r>
            <a:r>
              <a:rPr lang="en-US" sz="2000" dirty="0" err="1">
                <a:latin typeface="Aptos" panose="020B0004020202020204" pitchFamily="34" charset="0"/>
              </a:rPr>
              <a:t>countplot</a:t>
            </a:r>
            <a:r>
              <a:rPr lang="en-US" sz="2000" dirty="0">
                <a:latin typeface="Aptos" panose="020B0004020202020204" pitchFamily="34" charset="0"/>
              </a:rPr>
              <a:t> shows the distribution of spam and ham messages in the dataset.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The number of ham (legitimate) messages is much higher than spam messages.</a:t>
            </a:r>
            <a:endParaRPr lang="en-IN" sz="2000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1A3FE-E2CD-99E9-2772-37DEC15C6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807" y="1193521"/>
            <a:ext cx="5381412" cy="4206875"/>
          </a:xfrm>
        </p:spPr>
      </p:pic>
    </p:spTree>
    <p:extLst>
      <p:ext uri="{BB962C8B-B14F-4D97-AF65-F5344CB8AC3E}">
        <p14:creationId xmlns:p14="http://schemas.microsoft.com/office/powerpoint/2010/main" val="109191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40BD-1C73-D21A-A9A2-C49F3C80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408"/>
          </a:xfrm>
        </p:spPr>
        <p:txBody>
          <a:bodyPr>
            <a:normAutofit/>
          </a:bodyPr>
          <a:lstStyle/>
          <a:p>
            <a:r>
              <a:rPr lang="en-IN" dirty="0"/>
              <a:t>OUTPUT 2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2F54CE-752E-2C0D-4E88-D1E9D05082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24" y="2234099"/>
            <a:ext cx="4639733" cy="35173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A99DD-1A52-841E-0ADB-47EF7F19D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70897" y="1674796"/>
            <a:ext cx="6338503" cy="49165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IN" sz="2400" dirty="0"/>
            </a:br>
            <a:r>
              <a:rPr lang="en-IN" sz="2400" dirty="0" err="1"/>
              <a:t>Accuacy</a:t>
            </a:r>
            <a:r>
              <a:rPr lang="en-IN" sz="2400" dirty="0"/>
              <a:t> : 97.41% - </a:t>
            </a:r>
            <a:r>
              <a:rPr lang="en-US" sz="2400" dirty="0"/>
              <a:t>The model correctly classifies about 97 out of 100 emails, which shows that the classifier performs very well on unseen data.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IN" sz="2400" dirty="0"/>
              <a:t>Confusion Matrix : </a:t>
            </a:r>
            <a:r>
              <a:rPr lang="en-US" sz="2400" dirty="0"/>
              <a:t>No ham email was wrongly marked as spam.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IN" sz="2400" dirty="0"/>
              <a:t>Classification Report :</a:t>
            </a:r>
          </a:p>
          <a:p>
            <a:r>
              <a:rPr lang="en-US" sz="2400" dirty="0"/>
              <a:t>Description:</a:t>
            </a:r>
          </a:p>
          <a:p>
            <a:r>
              <a:rPr lang="en-US" sz="2400" dirty="0"/>
              <a:t>The model has perfect recall for ham (1.00)</a:t>
            </a:r>
          </a:p>
          <a:p>
            <a:r>
              <a:rPr lang="en-US" sz="2400" dirty="0"/>
              <a:t>Spam detection recall is 0.81, meaning most spam is caught</a:t>
            </a:r>
          </a:p>
          <a:p>
            <a:r>
              <a:rPr lang="en-US" sz="2400" dirty="0"/>
              <a:t>High F1-scores show a balanced and reliable model</a:t>
            </a:r>
          </a:p>
          <a:p>
            <a:pPr marL="0" indent="0">
              <a:buNone/>
            </a:pPr>
            <a:br>
              <a:rPr lang="en-IN" sz="2400" dirty="0"/>
            </a:b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359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EC82-640C-D953-5535-E252BC0F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65" y="103879"/>
            <a:ext cx="4762500" cy="1240233"/>
          </a:xfrm>
        </p:spPr>
        <p:txBody>
          <a:bodyPr>
            <a:normAutofit/>
          </a:bodyPr>
          <a:lstStyle/>
          <a:p>
            <a:r>
              <a:rPr lang="en-IN" sz="2800" dirty="0"/>
              <a:t>OUTPUT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83B6-C392-2D80-3E14-5B3AEE8E2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1166"/>
            <a:ext cx="9842500" cy="4665796"/>
          </a:xfrm>
        </p:spPr>
        <p:txBody>
          <a:bodyPr>
            <a:normAutofit/>
          </a:bodyPr>
          <a:lstStyle/>
          <a:p>
            <a:r>
              <a:rPr lang="en-US" dirty="0"/>
              <a:t>The pie chart shows that 86.6% of the emails are ham and 13.4% are spam.</a:t>
            </a:r>
          </a:p>
          <a:p>
            <a:r>
              <a:rPr lang="en-US" dirty="0"/>
              <a:t>The bar graph again confirms that ham messages dominate the dataset.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4F96F0-C7D3-6A22-F8F8-66A2B77A36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D8820-DA15-7672-39D3-86B3E7A53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166" y="2455792"/>
            <a:ext cx="8246298" cy="416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908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</TotalTime>
  <Words>565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Black</vt:lpstr>
      <vt:lpstr>Geist Bold</vt:lpstr>
      <vt:lpstr>Gill Sans MT</vt:lpstr>
      <vt:lpstr>Wingdings</vt:lpstr>
      <vt:lpstr>Parcel</vt:lpstr>
      <vt:lpstr>Email Spam Classification using NLP</vt:lpstr>
      <vt:lpstr>PowerPoint Presentation</vt:lpstr>
      <vt:lpstr>Dataset Structure &amp; Initial Analysis </vt:lpstr>
      <vt:lpstr>Methodology: Model Development Process </vt:lpstr>
      <vt:lpstr>NLP Preprocessing Pipeline </vt:lpstr>
      <vt:lpstr>Model Performance Metrics </vt:lpstr>
      <vt:lpstr>Key Evaluation Metrics </vt:lpstr>
      <vt:lpstr>OUTPUT 1 This countplot shows the distribution of spam and ham messages in the dataset. The number of ham (legitimate) messages is much higher than spam messages.</vt:lpstr>
      <vt:lpstr>OUTPUT 2 </vt:lpstr>
      <vt:lpstr>OUTPUT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Tarate</dc:creator>
  <cp:lastModifiedBy>Soumya Tarate</cp:lastModifiedBy>
  <cp:revision>1</cp:revision>
  <dcterms:created xsi:type="dcterms:W3CDTF">2026-01-31T17:50:44Z</dcterms:created>
  <dcterms:modified xsi:type="dcterms:W3CDTF">2026-01-31T18:05:40Z</dcterms:modified>
</cp:coreProperties>
</file>